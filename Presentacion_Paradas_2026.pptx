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Qué pasó" id="{70fa7a13-20bf-74c9-a276-4cb2d32d323e}">
          <p14:sldIdLst>
            <p14:sldId id="256"/>
            <p14:sldId id="257"/>
            <p14:sldId id="258"/>
          </p14:sldIdLst>
        </p14:section>
        <p14:section name="Dónde se concentra" id="{4cdb208e-d16c-d875-e3ed-0446aa858205}">
          <p14:sldIdLst>
            <p14:sldId id="259"/>
            <p14:sldId id="260"/>
            <p14:sldId id="261"/>
          </p14:sldIdLst>
        </p14:section>
        <p14:section name="Qué hacemos" id="{fcb96a04-7fb2-ae91-dbf5-be00dc0bc369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Minutos</c:v>
                </c:pt>
              </c:strCache>
            </c:strRef>
          </c:tx>
          <c:spPr>
            <a:solidFill>
              <a:srgbClr val="8FA3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A3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A3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Enero</c:v>
                  </c:pt>
                  <c:pt idx="1">
                    <c:v>Mayo</c:v>
                  </c:pt>
                  <c:pt idx="2">
                    <c:v>Junio</c:v>
                  </c:pt>
                  <c:pt idx="3">
                    <c:v>Julio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2782</c:v>
                </c:pt>
                <c:pt idx="1">
                  <c:v>4534</c:v>
                </c:pt>
                <c:pt idx="2">
                  <c:v>2908</c:v>
                </c:pt>
                <c:pt idx="3">
                  <c:v>1774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del archivo IMPACTOS: 318 paradas no planeadas registradas por mantenimiento en enero, mayo, junio y julio de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200 horas equivalen a unos 25 turnos de 8 horas. Desde mayo la tendencia baja: julio tuvo 61% menos minutos que mayo.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archivo no trae febrero, marzo ni abril, así que no se puede decir qué pasó en esos meses.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atacamos estos dos focos, atacamos la mayor parte del problema. En la Línea 16, el 22 y el 23 de mayo se perdieron más de 1.100 minutos por el servo y el encoder.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observaciones se escriben a mano, así que se agruparon por palabras clave. "falla de arrastre", "faklla de arrastre" y "falla cervo de rrastre" cuentan como la misma falla.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mayo la misma falla del servo de la Línea 16 se repitió dos días seguidos, por eso se muestran juntas. El top 3 completo de cada mes está en el Excel.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propuestas que salen de los datos; ajústenlas con el equipo de mantenimiento antes de comprometer fechas o responsables.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4709160"/>
            <a:ext cx="71323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ENTO">
    <p:bg>
      <p:bgPr>
        <a:solidFill>
          <a:srgbClr val="C24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4630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4"/>
                </a:solidFill>
              </a:rPr>
              <a:t>MANTENIMIENTO · ENERO, MAYO, JUNIO Y JULIO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874520"/>
            <a:ext cx="8138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Paradas no planeadas: dónde se nos va el tiempo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5661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3E3"/>
                </a:solidFill>
              </a:rPr>
              <a:t>200 horas perdidas en 4 meses. Dos focos explican la mayor parte.</a:t>
            </a:r>
            <a:endParaRPr lang="en-US" sz="20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El problema en cuatro números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47091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Fuente: IMPACTOS.xlsx · Enero, Mayo, Junio y Julio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863090" cy="2148840"/>
          </a:xfrm>
          <a:prstGeom prst="roundRect">
            <a:avLst>
              <a:gd name="adj" fmla="val 3926"/>
            </a:avLst>
          </a:prstGeom>
          <a:solidFill>
            <a:schemeClr val="bg1"/>
          </a:solidFill>
          <a:ln w="9525">
            <a:solidFill>
              <a:srgbClr val="E2E4E8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4973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200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23160"/>
            <a:ext cx="14973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horas de línea parada (11.998 min)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94610" y="1325880"/>
            <a:ext cx="1863090" cy="2148840"/>
          </a:xfrm>
          <a:prstGeom prst="roundRect">
            <a:avLst>
              <a:gd name="adj" fmla="val 3926"/>
            </a:avLst>
          </a:prstGeom>
          <a:solidFill>
            <a:schemeClr val="bg1"/>
          </a:solidFill>
          <a:ln w="9525">
            <a:solidFill>
              <a:srgbClr val="E2E4E8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777490" y="1508760"/>
            <a:ext cx="14973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318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777490" y="2423160"/>
            <a:ext cx="14973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paradas no planeadas, todas de mantenimiento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86300" y="1325880"/>
            <a:ext cx="1863090" cy="2148840"/>
          </a:xfrm>
          <a:prstGeom prst="roundRect">
            <a:avLst>
              <a:gd name="adj" fmla="val 3926"/>
            </a:avLst>
          </a:prstGeom>
          <a:solidFill>
            <a:schemeClr val="bg1"/>
          </a:solidFill>
          <a:ln w="9525">
            <a:solidFill>
              <a:srgbClr val="E2E4E8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69180" y="1508760"/>
            <a:ext cx="14973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38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2423160"/>
            <a:ext cx="14973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minutos en promedio por parada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77990" y="1325880"/>
            <a:ext cx="1863090" cy="2148840"/>
          </a:xfrm>
          <a:prstGeom prst="roundRect">
            <a:avLst>
              <a:gd name="adj" fmla="val 3926"/>
            </a:avLst>
          </a:prstGeom>
          <a:solidFill>
            <a:schemeClr val="bg1"/>
          </a:solidFill>
          <a:ln w="9525">
            <a:solidFill>
              <a:srgbClr val="E2E4E8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960870" y="1508760"/>
            <a:ext cx="14973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−61%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960870" y="2423160"/>
            <a:ext cx="14973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 minutos parados entre mayo y julio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8404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El 95% de las paradas son 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ajustes y averías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 (Adjustment + Breakdown).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Mayo fue el pico; julio, el mejor mes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47091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Minutos de parada por mes · Febrero a abril no están en el archivo</a:t>
            </a:r>
            <a:endParaRPr lang="en-US" sz="1000" dirty="0"/>
          </a:p>
        </p:txBody>
      </p:sp>
      <p:graphicFrame>
        <p:nvGraphicFramePr>
          <p:cNvPr id="4" name="Gráfico minutos por mes" descr=""/>
          <p:cNvGraphicFramePr/>
          <p:nvPr/>
        </p:nvGraphicFramePr>
        <p:xfrm>
          <a:off x="502920" y="118872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554480"/>
            <a:ext cx="269748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rgbClr val="E2E4E8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0" y="166420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Mayo: 112 paradas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 Línea 16 sola se llevó el 54% del mes.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43600" y="2788920"/>
            <a:ext cx="269748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rgbClr val="E2E4E8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126480" y="289864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Julio: 55 paradas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 mitad que en mayo.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Dos focos concentran el tiempo perdido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1F2E52"/>
          </a:solidFill>
          <a:ln w="9525">
            <a:solidFill>
              <a:srgbClr val="2C3E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4"/>
                </a:solidFill>
              </a:rPr>
              <a:t>LA LÍNEA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373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28%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Línea 16: 3.338 min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546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3"/>
                </a:solidFill>
              </a:rPr>
              <a:t>Fue la #1 en mayo y en junio, siempre por el arrastre del laminado (servo y encoder).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1F2E52"/>
          </a:solidFill>
          <a:ln w="9525">
            <a:solidFill>
              <a:srgbClr val="2C3E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4"/>
                </a:solidFill>
              </a:rPr>
              <a:t>EL EQUIPO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7373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40%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697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Llenadora: 4.798 min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31546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3"/>
                </a:solidFill>
              </a:rPr>
              <a:t>124 paradas en casi todas las líneas. Está detrás de 7 de las 12 paradas más largas.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572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C"/>
                </a:solidFill>
              </a:rPr>
              <a:t>% sobre el total de 11.998 minutos parados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Las fallas que más se repiten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47091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Paradas clasificadas por tipo de falla según su observación · detalle en la hoja "Fallas repetitivas" del Excel</a:t>
            </a:r>
            <a:endParaRPr lang="en-US" sz="1000" dirty="0"/>
          </a:p>
        </p:txBody>
      </p:sp>
      <p:graphicFrame>
        <p:nvGraphicFramePr>
          <p:cNvPr id="6" name="Tabla fallas repetid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813816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520440"/>
                <a:gridCol w="777240"/>
                <a:gridCol w="777240"/>
                <a:gridCol w="26517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Falla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Veces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Horas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Dónde se concentra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Arrastre del laminado (servo / encoder)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54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47,4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Línea 16 (50 de 54)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Bandas, correas y cadenas que se frenan o descarrilan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26,6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Líneas 10, 22, 19 y 02 · los 4 meses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Boquillas de llenado (goteo, fugas, conos)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23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8,9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Línea 02 (10), Línea 18 (6)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PLC, programa, drives y tarjetas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7,9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Varias líneas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Tornillos, pines y piezas partidas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10,2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Línea 02 sobre todo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40690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Solo la falla #1 ya suma 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47 horas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: casi una cuarta parte de todo el tiempo perdido.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 parada más larga de cada mes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47091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Top 3 de cada mes: hoja "Top 3 por mes" del Excel</a:t>
            </a:r>
            <a:endParaRPr lang="en-US" sz="1000" dirty="0"/>
          </a:p>
        </p:txBody>
      </p:sp>
      <p:graphicFrame>
        <p:nvGraphicFramePr>
          <p:cNvPr id="7" name="Tabla paradas larg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81381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914400"/>
                <a:gridCol w="1737360"/>
                <a:gridCol w="685800"/>
                <a:gridCol w="39776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Línea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Equipo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Horas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Qué pasó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Enero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Línea 18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Llenadora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8,0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Arranque con acompañamiento de proyectos (turno completo)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Mayo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Línea 16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Servo motor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13,7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Falla del servo dos días seguidos: 7,0 h el 22/05 y 6,7 h el 23/05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Junio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Línea 10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Banda transportadora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7,3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Intervención de bandas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Julio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Línea 20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Llenadora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4,5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Lado izquierdo de la tolva tapado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3886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Las fallas largas se registran en bloques de 60 min; aquí se juntan por día, línea y equipo para ver su duración real.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65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Qué proponemos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52728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527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23444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Plan de choque en la Línea 16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459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E3CF"/>
                </a:solidFill>
              </a:rPr>
              <a:t>Causa raíz del arrastre del laminado: servo, encoder y su sensor.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350008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3500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33172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Preventivo a llenadoras y bandas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432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E3CF"/>
                </a:solidFill>
              </a:rPr>
              <a:t>Revisión programada de boquillas (Línea 02) y de bandas y correas (Líneas 10 y 22).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447288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4472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4290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Registrar mejor las paradas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8404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E3CF"/>
                </a:solidFill>
              </a:rPr>
              <a:t>Observación obligatoria y tiempos que cuadren con el horario: hoy hay 38 registros por revisar.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adas">
  <a:themeElements>
    <a:clrScheme name="Paradas">
      <a:dk1>
        <a:srgbClr val="14213D"/>
      </a:dk1>
      <a:lt1>
        <a:srgbClr val="FFFFFF"/>
      </a:lt1>
      <a:dk2>
        <a:srgbClr val="4A5568"/>
      </a:dk2>
      <a:lt2>
        <a:srgbClr val="F4F5F7"/>
      </a:lt2>
      <a:accent1>
        <a:srgbClr val="C2410C"/>
      </a:accent1>
      <a:accent2>
        <a:srgbClr val="2F5597"/>
      </a:accent2>
      <a:accent3>
        <a:srgbClr val="8FA3C4"/>
      </a:accent3>
      <a:accent4>
        <a:srgbClr val="E8833A"/>
      </a:accent4>
      <a:accent5>
        <a:srgbClr val="FCE4D6"/>
      </a:accent5>
      <a:accent6>
        <a:srgbClr val="6B7280"/>
      </a:accent6>
      <a:hlink>
        <a:srgbClr val="2F5597"/>
      </a:hlink>
      <a:folHlink>
        <a:srgbClr val="6B7280"/>
      </a:folHlink>
    </a:clrScheme>
    <a:fontScheme name="Parada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Paradas por mantenimiento 2026</dc:title>
  <dc:subject>PptxGenJS Presentation</dc:subject>
  <dc:creator>PptxGenJS</dc:creator>
  <cp:lastModifiedBy>PptxGenJS</cp:lastModifiedBy>
  <cp:revision>1</cp:revision>
  <dcterms:created xsi:type="dcterms:W3CDTF">2026-10-14T19:24:10Z</dcterms:created>
  <dcterms:modified xsi:type="dcterms:W3CDTF">2026-10-14T19:24:10Z</dcterms:modified>
</cp:coreProperties>
</file>